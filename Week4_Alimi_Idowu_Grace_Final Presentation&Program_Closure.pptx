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323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95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4928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517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428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226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7683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8666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759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102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245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0967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3886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16149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3522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0750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7264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15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2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tudio.google.com/reporting/8c8a9a39-8e18-4a10-aaa7-1e5f4a264d4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rive.google.com/file/d/1LdZYkPf7suYPoE22moVBgIlIwWQj69B6/view?usp=sharing" TargetMode="External"/><Relationship Id="rId4" Type="http://schemas.openxmlformats.org/officeDocument/2006/relationships/hyperlink" Target="https://drive.google.com/file/d/1_-A-tTs2uYMfKdt8o0KWdJhaELAZriIz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gradFill flip="none" rotWithShape="1">
            <a:gsLst>
              <a:gs pos="71000">
                <a:srgbClr val="1E2761">
                  <a:alpha val="48000"/>
                </a:srgbClr>
              </a:gs>
              <a:gs pos="84000">
                <a:schemeClr val="accent1">
                  <a:lumMod val="45000"/>
                  <a:lumOff val="55000"/>
                  <a:alpha val="1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FFC000"/>
            </a:solidFill>
          </a:ln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63173">
              <a:alpha val="45000"/>
            </a:srgbClr>
          </a:solidFill>
          <a:ln>
            <a:solidFill>
              <a:srgbClr val="FFC000">
                <a:alpha val="72000"/>
              </a:srgbClr>
            </a:solidFill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ASSOCIATE EARLY REMOTE INTERNSHIP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Presentation &amp; Program Closure Submission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&amp; Learner Engagement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unstructured data to a validated, dashboard-ready dataset of </a:t>
            </a:r>
            <a:r>
              <a:rPr lang="en-US" sz="15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14,825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292608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TEAM 15 (Grace Onwuasoanya &amp; Idowu Oluwaseun)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Associate Interns  |  </a:t>
            </a: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Week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weeks, one connected story: from raw data to a working dashboard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>
            <a:solidFill>
              <a:srgbClr val="FFC00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99616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Exploration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374904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PostgreSQL on Aiven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explored two raw datasets: Opportunity Data and Learner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46704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194560"/>
            <a:ext cx="640080" cy="64008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9584" y="3108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Cleaning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47872" y="374904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real join key linking learners to opportunities, then cleaned and validated the combined dataset.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44768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>
            <a:solidFill>
              <a:srgbClr val="FFC00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 dirty="0"/>
          </a:p>
        </p:txBody>
      </p:sp>
      <p:sp>
        <p:nvSpPr>
          <p:cNvPr id="15" name="Shape 13"/>
          <p:cNvSpPr/>
          <p:nvPr/>
        </p:nvSpPr>
        <p:spPr>
          <a:xfrm>
            <a:off x="7095744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095744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27648" y="3108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Analysis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45936" y="374904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Looker Studio dashboard covering sign-ups, completion, rewards, scholarships, and trends.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42832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93808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893808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25712" y="3108960"/>
            <a:ext cx="2176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Recommendations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0" y="374904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the validated data into findings and specific, data-backed recommendations.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the Week 4 final report. It covers the finalized datasets, the analytical approach, the dashboard's key visuals, the findings they reveal, and what Excelerate should do next.</a:t>
            </a:r>
            <a:endParaRPr lang="en-US" sz="1250" dirty="0">
              <a:solidFill>
                <a:schemeClr val="tx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datasets, joined into one validated table (</a:t>
            </a:r>
            <a:r>
              <a:rPr lang="en-US" sz="130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integrated_dataset</a:t>
            </a: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5,733 raw records 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5,730 after cleaning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Internships, careers, competitions, courses, events, and more. Removed 3 corrupted records.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830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2219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15,029 raw records 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14,825 after cleaning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67919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application, its status, dates, and payment details. Removed 204 corrupted or duplicate rows.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89120"/>
            <a:ext cx="27729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 → opportunity_id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key confirmed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1558" y="4389120"/>
            <a:ext cx="27729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21558" y="507492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match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4476" y="4389120"/>
            <a:ext cx="27729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94476" y="507492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agreement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7394" y="4389120"/>
            <a:ext cx="27729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14,825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67394" y="5074920"/>
            <a:ext cx="27729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integrated_dataset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raw datasets became one joined dataset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>
            <a:solidFill>
              <a:schemeClr val="bg2">
                <a:lumMod val="25000"/>
              </a:schemeClr>
            </a:solidFill>
          </a:ln>
        </p:spPr>
      </p:sp>
      <p:sp>
        <p:nvSpPr>
          <p:cNvPr id="5" name="Shape 3"/>
          <p:cNvSpPr/>
          <p:nvPr/>
        </p:nvSpPr>
        <p:spPr>
          <a:xfrm>
            <a:off x="777240" y="2039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key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Tested three fields. sk to opportunity_id was the only real match, at 98.47%.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72384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55848" y="17830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EEF1FB"/>
          </a:solidFill>
          <a:ln>
            <a:solidFill>
              <a:schemeClr val="bg2">
                <a:lumMod val="25000"/>
              </a:schemeClr>
            </a:solidFill>
          </a:ln>
        </p:spPr>
      </p:sp>
      <p:sp>
        <p:nvSpPr>
          <p:cNvPr id="11" name="Shape 9"/>
          <p:cNvSpPr/>
          <p:nvPr/>
        </p:nvSpPr>
        <p:spPr>
          <a:xfrm>
            <a:off x="3584448" y="2039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first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8728" y="329184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Removed corrupted and duplicate rows, then nulled applications linked to fake opportunities.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79592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63056" y="17830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>
            <a:solidFill>
              <a:schemeClr val="bg2">
                <a:lumMod val="25000"/>
              </a:schemeClr>
            </a:solidFill>
          </a:ln>
        </p:spPr>
      </p:sp>
      <p:sp>
        <p:nvSpPr>
          <p:cNvPr id="17" name="Shape 15"/>
          <p:cNvSpPr/>
          <p:nvPr/>
        </p:nvSpPr>
        <p:spPr>
          <a:xfrm>
            <a:off x="6391656" y="2039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what's fixable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45936" y="329184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Backfilled category and fee from the join, recovering 9,000+ rows that were missing both.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70264" y="17830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EEF1FB"/>
          </a:solidFill>
          <a:ln>
            <a:solidFill>
              <a:schemeClr val="bg2">
                <a:lumMod val="25000"/>
              </a:schemeClr>
            </a:solidFill>
          </a:ln>
        </p:spPr>
      </p:sp>
      <p:sp>
        <p:nvSpPr>
          <p:cNvPr id="23" name="Shape 21"/>
          <p:cNvSpPr/>
          <p:nvPr/>
        </p:nvSpPr>
        <p:spPr>
          <a:xfrm>
            <a:off x="9198864" y="2039112"/>
            <a:ext cx="502920" cy="50292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4" name="Text 22"/>
          <p:cNvSpPr/>
          <p:nvPr/>
        </p:nvSpPr>
        <p:spPr>
          <a:xfrm>
            <a:off x="9198864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3144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everything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53144" y="3291840"/>
            <a:ext cx="2148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number is backed by a matching SQL query, checked before publishing.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methodology, including every SQL statement and the numbers behind each cleaning step, is documented in the Week 2 Data Cleaning &amp; Validation Report.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Sign-Up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opportunities pull in the most applications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8001000" y="1756594"/>
            <a:ext cx="3338508" cy="3745572"/>
          </a:xfrm>
          <a:prstGeom prst="roundRect">
            <a:avLst>
              <a:gd name="adj" fmla="val 1928"/>
            </a:avLst>
          </a:prstGeom>
          <a:solidFill>
            <a:srgbClr val="F7F8FC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NG" dirty="0"/>
          </a:p>
        </p:txBody>
      </p:sp>
      <p:sp>
        <p:nvSpPr>
          <p:cNvPr id="6" name="Text 3"/>
          <p:cNvSpPr/>
          <p:nvPr/>
        </p:nvSpPr>
        <p:spPr>
          <a:xfrm>
            <a:off x="8139108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7668" y="2081049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Trainee Internship received the highest number of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(119</a:t>
            </a: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)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nearly double that of the next opportunity. This indicates that learner interest was concentrated in a few opportunities, with Trainee Internship attracting the highest demand.</a:t>
            </a:r>
          </a:p>
        </p:txBody>
      </p:sp>
      <p:sp>
        <p:nvSpPr>
          <p:cNvPr id="8" name="Shape 5"/>
          <p:cNvSpPr/>
          <p:nvPr/>
        </p:nvSpPr>
        <p:spPr>
          <a:xfrm>
            <a:off x="8139108" y="2530371"/>
            <a:ext cx="3200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86978-424F-38A4-B0CE-CDABA342130E}"/>
              </a:ext>
            </a:extLst>
          </p:cNvPr>
          <p:cNvSpPr txBox="1"/>
          <p:nvPr/>
        </p:nvSpPr>
        <p:spPr>
          <a:xfrm>
            <a:off x="944355" y="2947943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E62E5F-5201-AB59-3E32-EAC35D11E9DD}"/>
              </a:ext>
            </a:extLst>
          </p:cNvPr>
          <p:cNvSpPr txBox="1"/>
          <p:nvPr/>
        </p:nvSpPr>
        <p:spPr>
          <a:xfrm>
            <a:off x="807720" y="1756594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62D36B-88EB-4C69-7922-CAD6129BE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92" y="1399913"/>
            <a:ext cx="6656830" cy="5210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Rates Across Opportunities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applications actually get, by category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795260" y="1600200"/>
            <a:ext cx="3543300" cy="3996559"/>
          </a:xfrm>
          <a:prstGeom prst="roundRect">
            <a:avLst>
              <a:gd name="adj" fmla="val 1928"/>
            </a:avLst>
          </a:prstGeom>
          <a:solidFill>
            <a:srgbClr val="F7F8FC"/>
          </a:solidFill>
          <a:ln>
            <a:solidFill>
              <a:srgbClr val="FFC000"/>
            </a:solidFill>
          </a:ln>
        </p:spPr>
      </p:sp>
      <p:sp>
        <p:nvSpPr>
          <p:cNvPr id="6" name="Text 3"/>
          <p:cNvSpPr/>
          <p:nvPr/>
        </p:nvSpPr>
        <p:spPr>
          <a:xfrm>
            <a:off x="8092440" y="1912487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01000" y="23774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NG" sz="1200" dirty="0">
                <a:latin typeface="Calibri" panose="020F0502020204030204" pitchFamily="34" charset="0"/>
                <a:cs typeface="Calibri" panose="020F0502020204030204" pitchFamily="34" charset="0"/>
              </a:rPr>
              <a:t>The overall completion rate across all applications is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7.62%,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is relatively low.</a:t>
            </a:r>
            <a:endParaRPr lang="en-US" sz="1200" dirty="0"/>
          </a:p>
          <a:p>
            <a:pPr>
              <a:lnSpc>
                <a:spcPct val="125000"/>
              </a:lnSpc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Event recorded the highest completion rate at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13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.93%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while Career, Competition, and Job Simulation were all below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5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This indicates that most applications do not progress to completion, regardless of category.</a:t>
            </a:r>
          </a:p>
        </p:txBody>
      </p:sp>
      <p:sp>
        <p:nvSpPr>
          <p:cNvPr id="8" name="Shape 5"/>
          <p:cNvSpPr/>
          <p:nvPr/>
        </p:nvSpPr>
        <p:spPr>
          <a:xfrm>
            <a:off x="8046720" y="2301895"/>
            <a:ext cx="3200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DD879F-3E2C-6A70-C158-9B37BDF11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20" y="2140006"/>
            <a:ext cx="7155100" cy="41693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A7E9BA-0C36-8CAA-6737-F046A31B7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923" y="1600200"/>
            <a:ext cx="1771897" cy="13813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Rewards &amp; Scholarships by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rewards and scholarship coverage break down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Internship offered the highest number of rewards, reflecting their high application volume. Competition recorded the highest scholarship rate at 56.5%, while every other category maintains scholarship coverage above one-third.</a:t>
            </a:r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878B88-681D-5FB2-D8A8-FF23D009F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69" y="1337988"/>
            <a:ext cx="4840896" cy="46620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D58786-C742-D5ED-6627-EA30C5624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965" y="1337988"/>
            <a:ext cx="5345043" cy="45119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Trends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trend, and how the last two quarters compare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818120" y="1600200"/>
            <a:ext cx="3794760" cy="47091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Q4 vs 2026 Q1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3317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092440" y="2971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29800" y="23317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829800" y="2971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92440" y="3429000"/>
            <a:ext cx="3200400" cy="0"/>
          </a:xfrm>
          <a:prstGeom prst="line">
            <a:avLst/>
          </a:prstGeom>
          <a:noFill/>
          <a:ln w="12700">
            <a:solidFill>
              <a:srgbClr val="3D4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3611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31.5%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09244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applications, Q4 to Q1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4800600"/>
            <a:ext cx="3200400" cy="0"/>
          </a:xfrm>
          <a:prstGeom prst="line">
            <a:avLst/>
          </a:prstGeom>
          <a:noFill/>
          <a:ln w="12700">
            <a:solidFill>
              <a:srgbClr val="3D4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49377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Applications peaked in December 2025 with 238 applications. Since then, monthly applications have generally declined, with only a slight recovery in April.</a:t>
            </a:r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C291E2-F1E0-F465-453D-1D06BE6A5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1512136"/>
            <a:ext cx="6819195" cy="47972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Source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applications actually come from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818120" y="1561732"/>
            <a:ext cx="3566160" cy="3823138"/>
          </a:xfrm>
          <a:prstGeom prst="roundRect">
            <a:avLst>
              <a:gd name="adj" fmla="val 1928"/>
            </a:avLst>
          </a:prstGeom>
          <a:solidFill>
            <a:srgbClr val="F7F8FC"/>
          </a:solidFill>
          <a:ln>
            <a:solidFill>
              <a:srgbClr val="FFC000"/>
            </a:solidFill>
          </a:ln>
        </p:spPr>
      </p:sp>
      <p:sp>
        <p:nvSpPr>
          <p:cNvPr id="6" name="Text 3"/>
          <p:cNvSpPr/>
          <p:nvPr/>
        </p:nvSpPr>
        <p:spPr>
          <a:xfrm>
            <a:off x="8092440" y="19167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518384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brings in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applications with a known source.</a:t>
            </a:r>
            <a:endParaRPr lang="en-US" sz="1200" dirty="0"/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Social Media and Illinois Institute of Technology account for more than two out of every three applications.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The remaining lead sources each contributed a much smaller share of applications.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0" y="2380591"/>
            <a:ext cx="3200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4D01F9-D420-026A-1998-76FFE6348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0472"/>
            <a:ext cx="6420536" cy="4688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validated data actually tells us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2296" cy="214884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235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concentrated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opportunities, led by Trainee Internship at 119 sign-ups, account for a disproportionate share of applications.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82296" cy="2148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0" name="Text 8"/>
          <p:cNvSpPr/>
          <p:nvPr/>
        </p:nvSpPr>
        <p:spPr>
          <a:xfrm>
            <a:off x="6793992" y="1726325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is low across categories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completion is 7.6%. Even the strongest category, Event, only reaches 13.9%. Career and Competition sit under 5%.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23360"/>
            <a:ext cx="82296" cy="2148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532" y="4142311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sources drive most activity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and Illinois Institute of Technology together bring in more than two thirds of all applications with a known source.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7" name="Shape 15"/>
          <p:cNvSpPr/>
          <p:nvPr/>
        </p:nvSpPr>
        <p:spPr>
          <a:xfrm>
            <a:off x="6263640" y="4023360"/>
            <a:ext cx="82296" cy="2148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792140" y="41376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are declining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83680" y="470916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Applications peaked in December 2025 before declining across most subsequent months. Q1 2026 recorded 31.5% fewer applications than Q4 2025.</a:t>
            </a:r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2" name="Graphic 21" descr="Connections">
            <a:extLst>
              <a:ext uri="{FF2B5EF4-FFF2-40B4-BE49-F238E27FC236}">
                <a16:creationId xmlns:a16="http://schemas.microsoft.com/office/drawing/2014/main" id="{D11469E4-EAAE-DD81-D2E2-3C606BC46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235" y="4242815"/>
            <a:ext cx="394611" cy="394611"/>
          </a:xfrm>
          <a:prstGeom prst="rect">
            <a:avLst/>
          </a:prstGeom>
        </p:spPr>
      </p:pic>
      <p:pic>
        <p:nvPicPr>
          <p:cNvPr id="24" name="Graphic 23" descr="Downward trend">
            <a:extLst>
              <a:ext uri="{FF2B5EF4-FFF2-40B4-BE49-F238E27FC236}">
                <a16:creationId xmlns:a16="http://schemas.microsoft.com/office/drawing/2014/main" id="{CBA0C6B4-FB1A-61E6-91E3-A6949FAD8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6429" y="4183379"/>
            <a:ext cx="416131" cy="416131"/>
          </a:xfrm>
          <a:prstGeom prst="rect">
            <a:avLst/>
          </a:prstGeom>
        </p:spPr>
      </p:pic>
      <p:pic>
        <p:nvPicPr>
          <p:cNvPr id="28" name="Graphic 27" descr="Downward trend">
            <a:extLst>
              <a:ext uri="{FF2B5EF4-FFF2-40B4-BE49-F238E27FC236}">
                <a16:creationId xmlns:a16="http://schemas.microsoft.com/office/drawing/2014/main" id="{91D22E29-97FB-9F03-EE82-A80F51FEF2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6429" y="1735035"/>
            <a:ext cx="416131" cy="416131"/>
          </a:xfrm>
          <a:prstGeom prst="rect">
            <a:avLst/>
          </a:prstGeom>
        </p:spPr>
      </p:pic>
      <p:pic>
        <p:nvPicPr>
          <p:cNvPr id="30" name="Graphic 29" descr="Upward trend">
            <a:extLst>
              <a:ext uri="{FF2B5EF4-FFF2-40B4-BE49-F238E27FC236}">
                <a16:creationId xmlns:a16="http://schemas.microsoft.com/office/drawing/2014/main" id="{AEE8A4B5-1397-624E-E5E8-AC2A53565F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153" y="1701627"/>
            <a:ext cx="371646" cy="3716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63173">
              <a:alpha val="50000"/>
            </a:srgbClr>
          </a:solidFill>
          <a:ln>
            <a:solidFill>
              <a:srgbClr val="FFC000">
                <a:alpha val="48000"/>
              </a:srgbClr>
            </a:solidFill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28600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3441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Investigate why Career and Competition have such low completion rates compared to Event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engaging 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learners who did not finish to find out where and why they dropped off.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3D4A8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09397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Investigate the decline in applications since December 2025 to determine whether it is driven by seasonality, marketing changes, or platform-related issues.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843784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Reduce reliance on two major lead sources by expanding outreach to additional partner institutions marketing platforms. Social Media and Illinois Institute of Technology drive most activity today.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3D4A8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5935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Introduce mid-process follow-ups for high-volume opportunities such as Trainee Internship to improve application completion rates.</a:t>
            </a:r>
          </a:p>
        </p:txBody>
      </p:sp>
      <p:sp>
        <p:nvSpPr>
          <p:cNvPr id="17" name="Shape 15"/>
          <p:cNvSpPr/>
          <p:nvPr/>
        </p:nvSpPr>
        <p:spPr>
          <a:xfrm>
            <a:off x="6492240" y="1500247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263173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8" name="Text 16"/>
          <p:cNvSpPr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1964383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 four weeks, two messy </a:t>
            </a:r>
            <a:r>
              <a:rPr lang="en-US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disconnected</a:t>
            </a: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datasets were transformed into a validated, dashboard-ready dataset that supports reliable analysis and decision-making. Every result presented is supported by validated SQL queries rather than assumptions.</a:t>
            </a:r>
          </a:p>
        </p:txBody>
      </p:sp>
      <p:sp>
        <p:nvSpPr>
          <p:cNvPr id="20" name="Shape 18"/>
          <p:cNvSpPr/>
          <p:nvPr/>
        </p:nvSpPr>
        <p:spPr>
          <a:xfrm>
            <a:off x="6766560" y="3108960"/>
            <a:ext cx="4297680" cy="0"/>
          </a:xfrm>
          <a:prstGeom prst="line">
            <a:avLst/>
          </a:prstGeom>
          <a:noFill/>
          <a:ln w="12700">
            <a:solidFill>
              <a:srgbClr val="3D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246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link: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520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Looker Studio Dashboard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6656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validation queries (appendix):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4251960"/>
            <a:ext cx="15497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Queries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0" y="4709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team presentation: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4983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 Presentation Video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66560" y="5577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4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EA351E7-E52E-94EF-3AA1-BF3CB072B982}"/>
              </a:ext>
            </a:extLst>
          </p:cNvPr>
          <p:cNvSpPr/>
          <p:nvPr/>
        </p:nvSpPr>
        <p:spPr>
          <a:xfrm>
            <a:off x="693157" y="5577840"/>
            <a:ext cx="105156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D7AB7E0-E106-FE8B-B4CC-974C696B4D34}"/>
              </a:ext>
            </a:extLst>
          </p:cNvPr>
          <p:cNvSpPr/>
          <p:nvPr/>
        </p:nvSpPr>
        <p:spPr>
          <a:xfrm>
            <a:off x="548640" y="4489704"/>
            <a:ext cx="385200" cy="3852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F8C915-2093-FFEE-D69B-1A69BDE8D897}"/>
              </a:ext>
            </a:extLst>
          </p:cNvPr>
          <p:cNvSpPr txBox="1"/>
          <p:nvPr/>
        </p:nvSpPr>
        <p:spPr>
          <a:xfrm>
            <a:off x="603504" y="4523511"/>
            <a:ext cx="274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NG" sz="1500" dirty="0">
              <a:solidFill>
                <a:srgbClr val="1E276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5827B6-89B6-41AE-92B8-63061815BFC9}"/>
              </a:ext>
            </a:extLst>
          </p:cNvPr>
          <p:cNvSpPr txBox="1"/>
          <p:nvPr/>
        </p:nvSpPr>
        <p:spPr>
          <a:xfrm>
            <a:off x="1143000" y="4389119"/>
            <a:ext cx="5074920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Monitor completion rates by category on a regular basis to evaluate whether improvement initiatives are producing results.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CD0C5D38-C2BA-FD09-E068-E103223566D2}"/>
              </a:ext>
            </a:extLst>
          </p:cNvPr>
          <p:cNvSpPr/>
          <p:nvPr/>
        </p:nvSpPr>
        <p:spPr>
          <a:xfrm>
            <a:off x="444587" y="6234947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TEAM 15 |  Data Visualization Associate Interns  |  Excelerate</a:t>
            </a:r>
            <a:endParaRPr lang="en-US" sz="12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3791</TotalTime>
  <Words>1007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Grace Onwuasoanya</cp:lastModifiedBy>
  <cp:revision>20</cp:revision>
  <dcterms:created xsi:type="dcterms:W3CDTF">2026-07-28T19:16:16Z</dcterms:created>
  <dcterms:modified xsi:type="dcterms:W3CDTF">2026-08-03T06:53:13Z</dcterms:modified>
</cp:coreProperties>
</file>